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A7CBD"/>
                </a:solidFill>
                <a:latin typeface="Calibri"/>
              </a:defRPr>
            </a:pPr>
            <a:r>
              <a:t>Adaptive Weighted Architecture for Reflective Essays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 Multi-Label Classification Framework for Detecting</a:t>
            </a:r>
            <a:br/>
            <a:r>
              <a:t>Community Cultural Wealth in Student Narratives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San Francisco State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Master of Science in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Advisor: Dr. Anagha Kulkarni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ALMA Project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Community Cultural Wealth (CCW)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Yosso (2005): </a:t>
            </a:r>
            <a:r>
              <a:rPr sz="1700" b="0">
                <a:solidFill>
                  <a:srgbClr val="FFFFFF"/>
                </a:solidFill>
                <a:latin typeface="Calibri"/>
              </a:rPr>
              <a:t>6 forms of capital marginalized students bring to education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ALMA Project at SFSU: </a:t>
            </a:r>
            <a:r>
              <a:rPr sz="1700" b="0">
                <a:solidFill>
                  <a:srgbClr val="FFFFFF"/>
                </a:solidFill>
                <a:latin typeface="Calibri"/>
              </a:rPr>
              <a:t>Extended to 11 themes for STEM student essays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7 years of collection: </a:t>
            </a:r>
            <a:r>
              <a:rPr sz="1700" b="0">
                <a:solidFill>
                  <a:srgbClr val="FFFFFF"/>
                </a:solidFill>
                <a:latin typeface="Calibri"/>
              </a:rPr>
              <a:t>2,636 annotated essays across Physics, Astronomy, Science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Bottleneck: </a:t>
            </a:r>
            <a:r>
              <a:rPr sz="1700" b="0">
                <a:solidFill>
                  <a:srgbClr val="FFFFFF"/>
                </a:solidFill>
                <a:latin typeface="Calibri"/>
              </a:rPr>
              <a:t>Manual annotation requires months per few hundred essays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Our goal: </a:t>
            </a:r>
            <a:r>
              <a:rPr sz="1700" b="0">
                <a:solidFill>
                  <a:srgbClr val="FFFFFF"/>
                </a:solidFill>
                <a:latin typeface="Calibri"/>
              </a:rPr>
              <a:t>Automate multi-label CCW detection at sentence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515600" cy="2103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E"/>
                </a:solidFill>
                <a:latin typeface="Calibri"/>
              </a:defRPr>
            </a:pPr>
            <a:r>
              <a:t>Example: A single sentence expressing 4 themes simultaneously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"My parents always pushed me to be the first in our family to graduate, and that drive kept me going even when I felt like I didn't belong."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Aspirational </a:t>
            </a:r>
            <a:r>
              <a:rPr sz="1400" b="0">
                <a:solidFill>
                  <a:srgbClr val="FFFFFF"/>
                </a:solidFill>
                <a:latin typeface="Calibri"/>
              </a:rPr>
              <a:t>(goal of graduating)  </a:t>
            </a:r>
            <a:r>
              <a:rPr sz="1400" b="1">
                <a:solidFill>
                  <a:srgbClr val="D4A01E"/>
                </a:solidFill>
                <a:latin typeface="Calibri"/>
              </a:rPr>
              <a:t>Familial </a:t>
            </a:r>
            <a:r>
              <a:rPr sz="1400" b="0">
                <a:solidFill>
                  <a:srgbClr val="FFFFFF"/>
                </a:solidFill>
                <a:latin typeface="Calibri"/>
              </a:rPr>
              <a:t>(parents as motivation)  </a:t>
            </a:r>
            <a:r>
              <a:rPr sz="1400" b="1">
                <a:solidFill>
                  <a:srgbClr val="D4A01E"/>
                </a:solidFill>
                <a:latin typeface="Calibri"/>
              </a:rPr>
              <a:t>Attainment </a:t>
            </a:r>
            <a:r>
              <a:rPr sz="1400" b="0">
                <a:solidFill>
                  <a:srgbClr val="FFFFFF"/>
                </a:solidFill>
                <a:latin typeface="Calibri"/>
              </a:rPr>
              <a:t>(first-gen milestone)  </a:t>
            </a:r>
            <a:r>
              <a:rPr sz="1400" b="1">
                <a:solidFill>
                  <a:srgbClr val="D4A01E"/>
                </a:solidFill>
                <a:latin typeface="Calibri"/>
              </a:rPr>
              <a:t>Resistance </a:t>
            </a:r>
            <a:r>
              <a:rPr sz="1400" b="0">
                <a:solidFill>
                  <a:srgbClr val="FFFFFF"/>
                </a:solidFill>
                <a:latin typeface="Calibri"/>
              </a:rPr>
              <a:t>(persisting despite not belonging)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Final 8 Themes After Consolidation (from 11 original)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188720"/>
                <a:gridCol w="914400"/>
                <a:gridCol w="118872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Prevalence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Multi-Label %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d-prime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Single-Label 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Observation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2,449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Most common; distinctive context patterns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1,009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Goal-oriented language; detectable by keywords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Capital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12.7%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Highest d-prime; family vocabulary is unambiguous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Peer networks; multi-modal sub-structure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7.8%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Overlaps with Resistance in overcoming difficulty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Lowest d-prime; requires narrative context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3.4%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Values-driven; appears across all prompts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Almost never alone; absorbed by Nav+Asp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D4A01E"/>
                </a:solidFill>
                <a:latin typeface="Calibri"/>
              </a:rPr>
              <a:t>Consolidation decisions: </a:t>
            </a:r>
            <a:r>
              <a:rPr sz="1300" b="0">
                <a:solidFill>
                  <a:srgbClr val="FFFFFF"/>
                </a:solidFill>
                <a:latin typeface="Calibri"/>
              </a:rPr>
              <a:t>Merged Familial + Filial Piety (cosine = 0.987)  |  </a:t>
            </a:r>
            <a:r>
              <a:rPr sz="1300" b="0">
                <a:solidFill>
                  <a:srgbClr val="FFFFFF"/>
                </a:solidFill>
                <a:latin typeface="Calibri"/>
              </a:rPr>
              <a:t>Dropped First Generation (33 sentences, 88% multi-label)  |  </a:t>
            </a:r>
            <a:r>
              <a:rPr sz="1300" b="0">
                <a:solidFill>
                  <a:srgbClr val="FFFFFF"/>
                </a:solidFill>
                <a:latin typeface="Calibri"/>
              </a:rPr>
              <a:t>Dropped Community Consciousness (119 sentences, 84% multi-label)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D4A01E"/>
                </a:solidFill>
                <a:latin typeface="Calibri"/>
              </a:rPr>
              <a:t>Each decision justified by: </a:t>
            </a:r>
            <a:r>
              <a:rPr sz="1300" b="0">
                <a:solidFill>
                  <a:srgbClr val="FFFFFF"/>
                </a:solidFill>
                <a:latin typeface="Calibri"/>
              </a:rPr>
              <a:t>centroid similarity, LOO error rates, and multi-label contamination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 Attributes That Make CCW Classification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9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Noisy &amp; Fragmented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395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7 years, multiple annotators, inconsistent formats. Different annotation tools per semester.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515600" cy="9144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1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Deep Semantic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91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ALL theme-pair cosine similarities &gt; 0.93. K-means finds only K=2 (themed vs unthemed), NOT 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42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Context Determines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426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"They helped me figure it out" = Familial or Social depending on essay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94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Severe 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94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21.8:1 ratio. Majority baseline = F1=0.000 (no theme exceeds 50%). Oracle baseline = F1=0.151.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5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Small Data, Large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457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17,622 sentences for 438M parameters. Model can memorize entire training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E"/>
                </a:solidFill>
                <a:latin typeface="Calibri"/>
              </a:defRPr>
            </a:pPr>
            <a:r>
              <a:t>Each attribute maps to a specific design response in our pipeline and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2,636 Annotated Essays  |  17,622 Sentences  |  8 Themes  |  5 Prompts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Observation 1: Severe Class Imbalance + Pervasive Multi-Label Co-occurrence</a:t>
            </a:r>
          </a:p>
        </p:txBody>
      </p:sp>
      <p:pic>
        <p:nvPicPr>
          <p:cNvPr id="4" name="Picture 3" descr="17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760720" cy="2304288"/>
          </a:xfrm>
          <a:prstGeom prst="rect">
            <a:avLst/>
          </a:prstGeom>
        </p:spPr>
      </p:pic>
      <p:pic>
        <p:nvPicPr>
          <p:cNvPr id="5" name="Picture 4" descr="18_multi_label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760720" cy="5040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Observation 2: Themes Overlap Deeply in Embedding Space</a:t>
            </a:r>
          </a:p>
        </p:txBody>
      </p:sp>
      <p:pic>
        <p:nvPicPr>
          <p:cNvPr id="4" name="Picture 3" descr="15_pairwise_centroid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76072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What this means:</a:t>
            </a:r>
            <a:r>
              <a:rPr sz="15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Cosine &gt; 0.93 everywhere</a:t>
            </a:r>
            <a:r>
              <a:rPr sz="1500" b="0">
                <a:solidFill>
                  <a:srgbClr val="333333"/>
                </a:solidFill>
                <a:latin typeface="Calibri"/>
              </a:rPr>
              <a:t> — no pair is well-separated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Familial-Filial = 0.987</a:t>
            </a:r>
            <a:r>
              <a:rPr sz="1500" b="0">
                <a:solidFill>
                  <a:srgbClr val="333333"/>
                </a:solidFill>
                <a:latin typeface="Calibri"/>
              </a:rPr>
              <a:t> — virtually identical, so we MERGED them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K-means optimal K = 2</a:t>
            </a:r>
            <a:r>
              <a:rPr sz="1500" b="0">
                <a:solidFill>
                  <a:srgbClr val="333333"/>
                </a:solidFill>
                <a:latin typeface="Calibri"/>
              </a:rPr>
              <a:t> — algorithm sees only themed vs unthemed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LOO KNN error = 38.7%</a:t>
            </a:r>
            <a:r>
              <a:rPr sz="1500" b="0">
                <a:solidFill>
                  <a:srgbClr val="333333"/>
                </a:solidFill>
                <a:latin typeface="Calibri"/>
              </a:rPr>
              <a:t> — 4 in 10 sentences are closer to wrong theme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/>
            </a:r>
            <a:r>
              <a:rPr sz="15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Implication for classification:</a:t>
            </a:r>
            <a:r>
              <a:rPr sz="15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No linear boundary can separate these themes</a:t>
            </a:r>
            <a:r>
              <a:rPr sz="15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The model must learn non-trivial decision surfaces</a:t>
            </a:r>
            <a:r>
              <a:rPr sz="15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Data cleaning must be semantic, not syntactic</a:t>
            </a:r>
            <a:r>
              <a:rPr sz="1500" b="0">
                <a:solidFill>
                  <a:srgbClr val="3333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Observation 3: Pre-trained Embeddings Show No Theme Structure</a:t>
            </a:r>
          </a:p>
        </p:txBody>
      </p:sp>
      <p:pic>
        <p:nvPicPr>
          <p:cNvPr id="4" name="Picture 3" descr="01_umap_2d_all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760720" cy="4320540"/>
          </a:xfrm>
          <a:prstGeom prst="rect">
            <a:avLst/>
          </a:prstGeom>
        </p:spPr>
      </p:pic>
      <p:pic>
        <p:nvPicPr>
          <p:cNvPr id="5" name="Picture 4" descr="09_optimal_k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76072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Observation 4: Theme Co-occurrence Is Not Random — It Is Structured</a:t>
            </a:r>
          </a:p>
        </p:txBody>
      </p:sp>
      <p:pic>
        <p:nvPicPr>
          <p:cNvPr id="4" name="Picture 3" descr="16_label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760720" cy="4937760"/>
          </a:xfrm>
          <a:prstGeom prst="rect">
            <a:avLst/>
          </a:prstGeom>
        </p:spPr>
      </p:pic>
      <p:pic>
        <p:nvPicPr>
          <p:cNvPr id="5" name="Picture 4" descr="02_label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760720" cy="27843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Data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4 Stages  |  Embedding-Based Semantic Cleaning  |  Principled Theme Consolidation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4-Stage Pipeline: Each Stage Responds to a Specific Data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22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Stage 1: 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22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Problem: 7 years of heterogeneous files, formats, naming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6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Unified 4,079 essays from multiple annotators into single 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2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Stage 2: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02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Problem: Annotations at excerpt-level, not sentence-level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6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Split into 17,622 sentences; propagated labels from excerpts to sentences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8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Stage 3: Semantic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683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Problem: Boundary noise — ambiguous sentences at theme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7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 embedding-based rules removed 1,705 sentences (8.6%) using cosine similarity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6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Stage 4: Theme Consolidation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63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Problem: Some themes are indistinguishable or too rare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1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12 themes -&gt; 8: merged (cosine=0.987), dropped (88% multi-label, N=33)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Semantic Cleaning: 3 Principled Rules (Embedding-Based, Not Keyword)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Rule 1: </a:t>
            </a:r>
            <a:r>
              <a:rPr sz="1400" b="0">
                <a:solidFill>
                  <a:srgbClr val="333333"/>
                </a:solidFill>
                <a:latin typeface="Calibri"/>
              </a:rPr>
              <a:t>Class_0 inside theme clusters = ambiguous unthemed text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  Evidence: </a:t>
            </a:r>
            <a:r>
              <a:rPr sz="1400" b="0">
                <a:solidFill>
                  <a:srgbClr val="333333"/>
                </a:solidFill>
                <a:latin typeface="Calibri"/>
              </a:rPr>
              <a:t>These sentences sit closer to theme centroids than to Class_0 centroid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  Removed: </a:t>
            </a:r>
            <a:r>
              <a:rPr sz="1400" b="0">
                <a:solidFill>
                  <a:srgbClr val="333333"/>
                </a:solidFill>
                <a:latin typeface="Calibri"/>
              </a:rPr>
              <a:t>589 sentences — reduces false negatives in training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/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Rule 2: </a:t>
            </a:r>
            <a:r>
              <a:rPr sz="1400" b="0">
                <a:solidFill>
                  <a:srgbClr val="333333"/>
                </a:solidFill>
                <a:latin typeface="Calibri"/>
              </a:rPr>
              <a:t>Boundary violations = sentences at theme-theme edges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  Evidence: </a:t>
            </a:r>
            <a:r>
              <a:rPr sz="1400" b="0">
                <a:solidFill>
                  <a:srgbClr val="333333"/>
                </a:solidFill>
                <a:latin typeface="Calibri"/>
              </a:rPr>
              <a:t>Closer to a different theme's centroid than their own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  Removed: </a:t>
            </a:r>
            <a:r>
              <a:rPr sz="1400" b="0">
                <a:solidFill>
                  <a:srgbClr val="333333"/>
                </a:solidFill>
                <a:latin typeface="Calibri"/>
              </a:rPr>
              <a:t>482 sentences — reduces label noise at decision boundaries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/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Rule 3: </a:t>
            </a:r>
            <a:r>
              <a:rPr sz="1400" b="0">
                <a:solidFill>
                  <a:srgbClr val="333333"/>
                </a:solidFill>
                <a:latin typeface="Calibri"/>
              </a:rPr>
              <a:t>Low-density outliers from theme regions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  Evidence: </a:t>
            </a:r>
            <a:r>
              <a:rPr sz="1400" b="0">
                <a:solidFill>
                  <a:srgbClr val="333333"/>
                </a:solidFill>
                <a:latin typeface="Calibri"/>
              </a:rPr>
              <a:t>Sparse neighborhoods with few same-label neighbors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  Removed: </a:t>
            </a:r>
            <a:r>
              <a:rPr sz="1400" b="0">
                <a:solidFill>
                  <a:srgbClr val="333333"/>
                </a:solidFill>
                <a:latin typeface="Calibri"/>
              </a:rPr>
              <a:t>634 sentences — removes annotation errors and edge cases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/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Total: </a:t>
            </a:r>
            <a:r>
              <a:rPr sz="1400" b="0">
                <a:solidFill>
                  <a:srgbClr val="333333"/>
                </a:solidFill>
                <a:latin typeface="Calibri"/>
              </a:rPr>
              <a:t>1,705 removed (8.6%). All decisions reproducible from embeddings.</a:t>
            </a:r>
          </a:p>
        </p:txBody>
      </p:sp>
      <p:pic>
        <p:nvPicPr>
          <p:cNvPr id="5" name="Picture 4" descr="35_remov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822960"/>
            <a:ext cx="59436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Every Component Responds to a Specific Data Attribute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AWARE Framework: Full Architecture</a:t>
            </a:r>
          </a:p>
        </p:txBody>
      </p:sp>
      <p:pic>
        <p:nvPicPr>
          <p:cNvPr id="4" name="Picture 3" descr="aware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15744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Design Rationale: Each Component Addresses a Specific Problem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73152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Attribute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AWARE 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 Evidence / Numbers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 Shift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DAPT (MLM on essays)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General-purpose DeBERTa: MLM loss=11.98. After DAPT: 2.71 (77% reduction)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 Dependency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Essay-Level Encoding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essay as single input sequence — each sentence sees all others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 Dependency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BiLSTM (2-layer, 256)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Models sentence-to-sentence narrative flow; +0.112 F1 on Social from context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Imbalance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ASL (gamma_neg=2.5)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Down-weights confident negatives; preserves ALL gradient from rare positives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 Imbalance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CB Weights (up to 10.4x)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 gets 10.4x weight vs Navigational to compensate 21.8:1 ratio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Data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11-Technique Regularization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Dropout, R-Drop, weight decay, EMA, label smoothing, gradient clipping...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Data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3-Phase Progressive Training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Frozen encoder -&gt; progressive unfreeze -&gt; SWA ensemble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Multi-Label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Per-Theme Thresholds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Replace default 0.5 with per-theme optimal thresholds (range: 0.05-0.35)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No component was added speculatively — each is a direct, evidence-based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DAPT: Closing the Domain Gap — "navigate" Means Something Different Here</a:t>
            </a:r>
          </a:p>
        </p:txBody>
      </p:sp>
      <p:pic>
        <p:nvPicPr>
          <p:cNvPr id="4" name="Picture 3" descr="plot_dap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858000" cy="2996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The domain gap is real:</a:t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MLM loss 11.98</a:t>
            </a:r>
            <a:r>
              <a:rPr sz="1400" b="0">
                <a:solidFill>
                  <a:srgbClr val="333333"/>
                </a:solidFill>
                <a:latin typeface="Calibri"/>
              </a:rPr>
              <a:t> on student essays (cold DeBERTa)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MLM loss 2.71</a:t>
            </a:r>
            <a:r>
              <a:rPr sz="1400" b="0">
                <a:solidFill>
                  <a:srgbClr val="333333"/>
                </a:solidFill>
                <a:latin typeface="Calibri"/>
              </a:rPr>
              <a:t> after 10 epochs DAPT (77% reduction)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/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What DAPT learns:</a:t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Code-switching</a:t>
            </a:r>
            <a:r>
              <a:rPr sz="1400" b="0">
                <a:solidFill>
                  <a:srgbClr val="333333"/>
                </a:solidFill>
                <a:latin typeface="Calibri"/>
              </a:rPr>
              <a:t> in multilingual student writing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Informal register</a:t>
            </a:r>
            <a:r>
              <a:rPr sz="1400" b="0">
                <a:solidFill>
                  <a:srgbClr val="333333"/>
                </a:solidFill>
                <a:latin typeface="Calibri"/>
              </a:rPr>
              <a:t> — slang, grammar errors, abbreviations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Domain-specific senses:</a:t>
            </a:r>
            <a:r>
              <a:rPr sz="1400" b="0">
                <a:solidFill>
                  <a:srgbClr val="333333"/>
                </a:solidFill>
                <a:latin typeface="Calibri"/>
              </a:rPr>
              <a:t> 'navigate' = institutional navigation, not spatial movement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/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Why this matters:</a:t>
            </a: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Without DAPT: </a:t>
            </a:r>
            <a:r>
              <a:rPr sz="1400" b="0">
                <a:solidFill>
                  <a:srgbClr val="333333"/>
                </a:solidFill>
                <a:latin typeface="Calibri"/>
              </a:rPr>
              <a:t>model starts cold on unfamiliar text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With DAPT: </a:t>
            </a:r>
            <a:r>
              <a:rPr sz="1400" b="0">
                <a:solidFill>
                  <a:srgbClr val="333333"/>
                </a:solidFill>
                <a:latin typeface="Calibri"/>
              </a:rPr>
              <a:t>embeddings already aligned to student writing patterns before any classification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Design Decisions: What We Tried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22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Why BiLSTM, not Transformer?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66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Only 2-10 sentences/essay. BiLSTM adds 2M params vs 13M for Transformer layer. Sequential bias is right for short narrative sequences. Less overfitting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76272"/>
            <a:ext cx="105156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01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Why ASL, not standard BCE?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56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With 1 positive + 7 negative themes per sentence, BCE gradient is dominated by negatives. ASL with gamma_neg=2.5 preserves ALL positive gradient (gamma_pos=0).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55264"/>
            <a:ext cx="105156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806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Why essay-level input, not sentence-level?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346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"They helped me figure it out" is unclassifiable alone. Essay context resolves ambiguity. Result: Social +0.112 F1, Spiritual +0.097, Resistance +118% vs TF-IDF.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34256"/>
            <a:ext cx="105156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596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Why per-theme thresholds?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3656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Attainment at 1.7% prevalence: sigmoid output almost never &gt; 0.5. Default threshold renders it nearly undetectable (F1=0.098). Optimized threshold=0.05 recovers F1=0.303.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13248"/>
            <a:ext cx="10515600" cy="9601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38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Calibri"/>
              </a:defRPr>
            </a:pPr>
            <a:r>
              <a:t>Prototype head vs Linear head?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926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Tested cosine-similarity prototype head: F1=0.34 (29% worse). Themes share too much vocabulary for angular separation. Linear head learns arbitrary hyperplanes in full feature space.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7 Experiments  |  Systematic Progression  |  Every Experiment Teaches Something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Model Comparison: From Random Baseline to AWARE-Large v4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9784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1005840"/>
                <a:gridCol w="1371600"/>
                <a:gridCol w="914400"/>
                <a:gridCol w="914400"/>
                <a:gridCol w="32004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Learning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Majority Class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theme &gt; 50% prevalence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(prior)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±0.007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6x worse than our best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Oracle Constant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0.151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Perfect freq knowledge still fails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TF-IDF + LogReg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Keywords help, but not enough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AWARE-Base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[0.445, 0.497]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+25.4% over TF-IDF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AWARE-Large v3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438M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[0.431, 0.486]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WORSE than base (failed)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AWARE-Large v4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438M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[0.464, 0.520]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0.484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0.888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Best: 7 fixes recovered scaling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7548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Key observation 1: </a:t>
            </a:r>
            <a:r>
              <a:rPr sz="1400" b="0">
                <a:solidFill>
                  <a:srgbClr val="333333"/>
                </a:solidFill>
                <a:latin typeface="Calibri"/>
              </a:rPr>
              <a:t>Oracle baseline (cheats with test frequencies) still only F1=0.151 — task CANNOT be solved by frequency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Key observation 2: </a:t>
            </a:r>
            <a:r>
              <a:rPr sz="1400" b="0">
                <a:solidFill>
                  <a:srgbClr val="333333"/>
                </a:solidFill>
                <a:latin typeface="Calibri"/>
              </a:rPr>
              <a:t>TF-IDF establishes what keywords can do; everything above 0.378 is the value of context + DAPT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Key observation 3: </a:t>
            </a:r>
            <a:r>
              <a:rPr sz="1400" b="0">
                <a:solidFill>
                  <a:srgbClr val="333333"/>
                </a:solidFill>
                <a:latin typeface="Calibri"/>
              </a:rPr>
              <a:t>v3 failure is NOT about capacity — it's about optimization. Same architecture, different config = 0.461 vs 0.494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Per-Theme F1: Where Each Model Wins and Loses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22960"/>
          <a:ext cx="10241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05840"/>
                <a:gridCol w="1005840"/>
                <a:gridCol w="100584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TF-IDF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AWARE-Base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AWARE-v4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v4 vs TF-IDF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v4 vs Base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This Tells 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0.631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Already keyword-detectable; context adds little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lexical markers (dream, goal, future)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+27%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Family vocab distinctive; base model sufficient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+45%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 helps: large model wins biggest here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0.364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+32%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 helps vs keywords; scale doesn't help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+118%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BIGGEST context gain; but large model overfits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0.288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+35%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 recovers what base missed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Fundamentally limited by 77.3% co-occurrence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Macro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0.378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0.474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+30.8%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+4.2%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1206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Resistance: +118% over TF-IDF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context-dependent meaning needs essay-level encoding, not just keywords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Aspirational: only +6%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'dream', 'goal', 'future' are strong enough that TF-IDF already captures most signal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Base beats v4 on 3 themes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438M params overfit mid-frequency themes where 86M's implicit regularization helps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Per-Theme F1 Comparison (Visual)</a:t>
            </a:r>
          </a:p>
        </p:txBody>
      </p:sp>
      <p:pic>
        <p:nvPicPr>
          <p:cNvPr id="4" name="Picture 3" descr="05_per_theme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11704320" cy="46393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Scaling Failure: 4x More Parameters = WORSE (v3: 0.461 &lt; Base: 0.474)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8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F1:</a:t>
            </a:r>
            <a:r>
              <a:rPr sz="1200" b="1">
                <a:solidFill>
                  <a:srgbClr val="D4A01E"/>
                </a:solidFill>
                <a:latin typeface="Calibri"/>
              </a:rPr>
              <a:t> Encoder memorized too fast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Train loss dropped 47% faster than base (0.072 vs 0.049/epoch)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9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F2:</a:t>
            </a:r>
            <a:r>
              <a:rPr sz="1200" b="1">
                <a:solidFill>
                  <a:srgbClr val="D4A01E"/>
                </a:solidFill>
                <a:latin typeface="Calibri"/>
              </a:rPr>
              <a:t> SWA never activated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Start ratio 0.50 + patience 5 = training stopped exactly when SWA should start. 0 checkpoints.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11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F3:</a:t>
            </a:r>
            <a:r>
              <a:rPr sz="1200" b="1">
                <a:solidFill>
                  <a:srgbClr val="D4A01E"/>
                </a:solidFill>
                <a:latin typeface="Calibri"/>
              </a:rPr>
              <a:t> LLRD froze bottom layers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0.85^23 = 0.02x top LR. Bottom layers received updates of 3e-7 — effectively dead.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42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F4:</a:t>
            </a:r>
            <a:r>
              <a:rPr sz="1200" b="1">
                <a:solidFill>
                  <a:srgbClr val="D4A01E"/>
                </a:solidFill>
                <a:latin typeface="Calibri"/>
              </a:rPr>
              <a:t> R-Drop dominated the loss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KL divergence consumed 55-72% of gradient. Model learned CONSISTENCY, not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74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F5:</a:t>
            </a:r>
            <a:r>
              <a:rPr sz="1200" b="1">
                <a:solidFill>
                  <a:srgbClr val="D4A01E"/>
                </a:solidFill>
                <a:latin typeface="Calibri"/>
              </a:rPr>
              <a:t> Phase 1 too short (4 ep)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Head PR-AUC = 0.144 at Phase 1 end — barely above random (0.085). Unstable gradient signal.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5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F6:</a:t>
            </a:r>
            <a:r>
              <a:rPr sz="1200" b="1">
                <a:solidFill>
                  <a:srgbClr val="D4A01E"/>
                </a:solidFill>
                <a:latin typeface="Calibri"/>
              </a:rPr>
              <a:t> Early stopping too eager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Patience=5 terminated at epoch 15. Late-peaking themes (Attainment) never got to converge.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F7:</a:t>
            </a:r>
            <a:r>
              <a:rPr sz="1200" b="1">
                <a:solidFill>
                  <a:srgbClr val="D4A01E"/>
                </a:solidFill>
                <a:latin typeface="Calibri"/>
              </a:rPr>
              <a:t> Phase 3 ineffective  —  </a:t>
            </a:r>
            <a:r>
              <a:rPr sz="1200" b="0">
                <a:solidFill>
                  <a:srgbClr val="FFFFFF"/>
                </a:solidFill>
                <a:latin typeface="Calibri"/>
              </a:rPr>
              <a:t>Retraining 20.5K head params can't fix encoder-level representation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01E"/>
                </a:solidFill>
                <a:latin typeface="Calibri"/>
              </a:defRPr>
            </a:pPr>
            <a:r>
              <a:t>These failures COMPOUND: fast encoder + short Phase 1 + dominant KL + eager stopping = cascading collapse.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v3 -&gt; v4: 16 Targeted Fixes — Each Addresses a Specific Failure Mode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22960"/>
          <a:ext cx="9235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731520"/>
                <a:gridCol w="502920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Measured Impact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Encoder LR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1.5e-5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5.0e-6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2: 15 -&gt; 31 productive epochs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LLRD Decay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Bottom layer LR: 3e-7 -&gt; 8.5e-7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1 Epochs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PR-AUC: 0.144 -&gt; 0.398 (2.8x)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R-Drop Alpha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KL share: 55-72% -&gt; 11% of loss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Best checkpoint at epoch 31 (was 15)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SWA Start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 checkpoints collected (was 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Weight Decay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Stronger L2 for 438M params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Prog. Unfreeze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Top-12 first, all after epoch 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Smoothing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Prevents logit explosion on negatives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ASL gamma_neg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Less overconfident on negatives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486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Single most impactful change: </a:t>
            </a:r>
            <a:r>
              <a:rPr sz="1300" b="0">
                <a:solidFill>
                  <a:srgbClr val="333333"/>
                </a:solidFill>
                <a:latin typeface="Calibri"/>
              </a:rPr>
              <a:t>Encoder LR 1.5e-5 -&gt; 5e-6. This cascaded: slower memorization -&gt; longer training -&gt; more SWA checkpoints -&gt; better generalization.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This diagnostic framework </a:t>
            </a:r>
            <a:r>
              <a:rPr sz="1300" b="0">
                <a:solidFill>
                  <a:srgbClr val="333333"/>
                </a:solidFill>
                <a:latin typeface="Calibri"/>
              </a:rPr>
              <a:t>is itself a contribution: a reference for practitioners fine-tuning large transformers on small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Training Dynamics: Base vs v3 Large vs v4 Large</a:t>
            </a:r>
          </a:p>
        </p:txBody>
      </p:sp>
      <p:pic>
        <p:nvPicPr>
          <p:cNvPr id="4" name="Picture 3" descr="plot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11704320" cy="96313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v3 vs v4: Validation PR-AUC Trajectory Shows the Fix</a:t>
            </a:r>
          </a:p>
        </p:txBody>
      </p:sp>
      <p:pic>
        <p:nvPicPr>
          <p:cNvPr id="4" name="Picture 3" descr="plot_v3_vs_v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0515600" cy="4597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1206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v3 plateaus at epoch ~20 and never improves;</a:t>
            </a:r>
            <a:r>
              <a:rPr sz="1500" b="0">
                <a:solidFill>
                  <a:srgbClr val="333333"/>
                </a:solidFill>
                <a:latin typeface="Calibri"/>
              </a:rPr>
              <a:t> v4 sustains improvement through epoch 31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v3 train loss drops FASTER</a:t>
            </a:r>
            <a:r>
              <a:rPr sz="1500" b="0">
                <a:solidFill>
                  <a:srgbClr val="333333"/>
                </a:solidFill>
                <a:latin typeface="Calibri"/>
              </a:rPr>
              <a:t> = faster memorization = WORSE generalization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v4 result: </a:t>
            </a:r>
            <a:r>
              <a:rPr sz="1500" b="0">
                <a:solidFill>
                  <a:srgbClr val="333333"/>
                </a:solidFill>
                <a:latin typeface="Calibri"/>
              </a:rPr>
              <a:t>31 productive epochs (vs 15), 22 SWA checkpoints (vs 0), KL at 11% (vs 55-72%)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Macro-F1 = 0.494  |  Deep Per-Theme Analysis  |  Embedding Evidence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AWARE-Large v4: Overall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103120" cy="18288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0.494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[0.464, 0.520]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280160"/>
            <a:ext cx="2103120" cy="18288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0.484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Ranking quality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280160"/>
            <a:ext cx="2103120" cy="18288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0.888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Discrimination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1280160"/>
            <a:ext cx="2103120" cy="18288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+30.8%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vs TF-IDF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0.378 -&gt; 0.494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280160"/>
            <a:ext cx="2103120" cy="18288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01E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vs 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0.084 -&gt; 0.494</a:t>
            </a:r>
          </a:p>
        </p:txBody>
      </p:sp>
      <p:pic>
        <p:nvPicPr>
          <p:cNvPr id="24" name="Picture 23" descr="06_macro_f1_pr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474720"/>
            <a:ext cx="11704320" cy="51869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AWARE-Large v4: Complete Per-Theme Results (Optimized Thresholds)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22960"/>
          <a:ext cx="9326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731520"/>
                <a:gridCol w="731520"/>
                <a:gridCol w="822960"/>
                <a:gridCol w="1005840"/>
                <a:gridCol w="1005840"/>
                <a:gridCol w="822960"/>
                <a:gridCol w="20116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0.669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0.749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[0.672, 0.740]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[0.500, 0.680]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0.549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[0.534, 0.631]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[0.408, 0.591]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[0.406, 0.545]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[0.319, 0.468]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0.291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[0.298, 0.446]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[0.175, 0.414]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8463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Familial Capital: </a:t>
            </a:r>
            <a:r>
              <a:rPr sz="1300" b="0">
                <a:solidFill>
                  <a:srgbClr val="333333"/>
                </a:solidFill>
                <a:latin typeface="Calibri"/>
              </a:rPr>
              <a:t>Only 3.8% prevalence but F1=0.600 and HIGHEST ROC-AUC (0.941). </a:t>
            </a:r>
            <a:r>
              <a:rPr sz="1300" b="1">
                <a:solidFill>
                  <a:srgbClr val="1B2A4A"/>
                </a:solidFill>
                <a:latin typeface="Calibri"/>
              </a:rPr>
              <a:t>Why? </a:t>
            </a:r>
            <a:r>
              <a:rPr sz="1300" b="0">
                <a:solidFill>
                  <a:srgbClr val="333333"/>
                </a:solidFill>
                <a:latin typeface="Calibri"/>
              </a:rPr>
              <a:t>d-prime=1.62 (highest). Family vocab ('parents', 'mother', 'father') is unambiguous.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Attainment: </a:t>
            </a:r>
            <a:r>
              <a:rPr sz="1300" b="0">
                <a:solidFill>
                  <a:srgbClr val="333333"/>
                </a:solidFill>
                <a:latin typeface="Calibri"/>
              </a:rPr>
              <a:t>Only 32 test examples, 77.3% multi-label. CI = [0.175, 0.414] — point estimate unreliable. </a:t>
            </a:r>
            <a:r>
              <a:rPr sz="1300" b="1">
                <a:solidFill>
                  <a:srgbClr val="C0392B"/>
                </a:solidFill>
                <a:latin typeface="Calibri"/>
              </a:rPr>
              <a:t>PR-AUC=0.205 </a:t>
            </a:r>
            <a:r>
              <a:rPr sz="1300" b="0">
                <a:solidFill>
                  <a:srgbClr val="333333"/>
                </a:solidFill>
                <a:latin typeface="Calibri"/>
              </a:rPr>
              <a:t>= barely above prior. A data scarcity limit, not a model failure.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All ROC-AUC &gt; 0.80: </a:t>
            </a:r>
            <a:r>
              <a:rPr sz="1300" b="0">
                <a:solidFill>
                  <a:srgbClr val="333333"/>
                </a:solidFill>
                <a:latin typeface="Calibri"/>
              </a:rPr>
              <a:t>Model has learned SOME signal for every theme — but PR-AUC reveals actual utility varies 0.205-0.759.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Threshold Optimization: +0.084 Macro-F1 — The Model 'Knows More Than It Shows'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22960"/>
          <a:ext cx="4480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(0.5)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0.639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+0.068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+0.013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+0.094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-0.019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0.098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Macro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0.410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+0.084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9_threshold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22960"/>
            <a:ext cx="6126480" cy="1898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120640"/>
            <a:ext cx="11704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Attainment default F1=0.098</a:t>
            </a:r>
            <a:r>
              <a:rPr sz="1200" b="0">
                <a:solidFill>
                  <a:srgbClr val="333333"/>
                </a:solidFill>
                <a:latin typeface="Calibri"/>
              </a:rPr>
              <a:t> — at 1.7% prevalence, sigmoid output almost never exceeds 0.5. Optimized threshold=0.05 recovers F1=0.303 (+0.205).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Spiritual and Perseverance slightly hurt</a:t>
            </a:r>
            <a:r>
              <a:rPr sz="1200" b="0">
                <a:solidFill>
                  <a:srgbClr val="333333"/>
                </a:solidFill>
                <a:latin typeface="Calibri"/>
              </a:rPr>
              <a:t> — default threshold was already near-optimal. Lower threshold trades precision for recall unfavorably.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Insight: </a:t>
            </a:r>
            <a:r>
              <a:rPr sz="1200" b="0">
                <a:solidFill>
                  <a:srgbClr val="333333"/>
                </a:solidFill>
                <a:latin typeface="Calibri"/>
              </a:rPr>
              <a:t>The model has learned discriminative features (ROC-AUC &gt; 0.80 everywhere) but the default 0.5 boundary hides this knowledge for rare themes.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Overfitting: Train vs Test Gap Correlates with Data Properties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22960"/>
          <a:ext cx="4937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548640"/>
                <a:gridCol w="731520"/>
                <a:gridCol w="73152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PR-AUC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PR-AUC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0.043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0.742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0.262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0.536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0.323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0.579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Macro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0.494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0.265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0.484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8_overfitt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822960"/>
            <a:ext cx="5760720" cy="2854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4846320"/>
            <a:ext cx="11704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Navigational (gap=0.025): </a:t>
            </a:r>
            <a:r>
              <a:rPr sz="1200" b="0">
                <a:solidFill>
                  <a:srgbClr val="333333"/>
                </a:solidFill>
                <a:latin typeface="Calibri"/>
              </a:rPr>
              <a:t>2,449 single-label examples + d-prime=1.07 = enough data to generalize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Attainment (gap=0.519): </a:t>
            </a:r>
            <a:r>
              <a:rPr sz="1200" b="0">
                <a:solidFill>
                  <a:srgbClr val="333333"/>
                </a:solidFill>
                <a:latin typeface="Calibri"/>
              </a:rPr>
              <a:t>Train PR-AUC=0.959 means 438M params MEMORIZED the 339 examples. Does not transfer to 32 test examples.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Pattern: </a:t>
            </a:r>
            <a:r>
              <a:rPr sz="1200" b="0">
                <a:solidFill>
                  <a:srgbClr val="333333"/>
                </a:solidFill>
                <a:latin typeface="Calibri"/>
              </a:rPr>
              <a:t>Gap correlates with (1) training set size, (2) d-prime, (3) multi-label rate. This is a DATA limitation, not model failure.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Embedding Space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What Did the Model Actually Learn? Visual Proof of Representation Restructuring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Before &amp; After Fine-Tuning: Embedding Space Completely Reorganized</a:t>
            </a:r>
          </a:p>
        </p:txBody>
      </p:sp>
      <p:pic>
        <p:nvPicPr>
          <p:cNvPr id="4" name="Picture 3" descr="plot_umap_pretrained_vs_fine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0"/>
            <a:ext cx="11887200" cy="51835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Before: Scattered, No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After: Clustered, Theme-Organized</a:t>
            </a:r>
          </a:p>
        </p:txBody>
      </p:sp>
      <p:pic>
        <p:nvPicPr>
          <p:cNvPr id="5" name="Picture 4" descr="plot_umap_pretr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40080"/>
            <a:ext cx="5852160" cy="4374342"/>
          </a:xfrm>
          <a:prstGeom prst="rect">
            <a:avLst/>
          </a:prstGeom>
        </p:spPr>
      </p:pic>
      <p:pic>
        <p:nvPicPr>
          <p:cNvPr id="6" name="Picture 5" descr="plot_umap_finetu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5852160" cy="437434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Before: Every Theme Spans Entire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After: Concentrated Clusters with Clear Peaks</a:t>
            </a:r>
          </a:p>
        </p:txBody>
      </p:sp>
      <p:pic>
        <p:nvPicPr>
          <p:cNvPr id="5" name="Picture 4" descr="plot_density_pretr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40080"/>
            <a:ext cx="5852160" cy="5970253"/>
          </a:xfrm>
          <a:prstGeom prst="rect">
            <a:avLst/>
          </a:prstGeom>
        </p:spPr>
      </p:pic>
      <p:pic>
        <p:nvPicPr>
          <p:cNvPr id="6" name="Picture 5" descr="plot_density_finetu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5852160" cy="597025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the Embedding Space Reveals About Each Theme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749808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7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Navigational:</a:t>
            </a:r>
            <a:r>
              <a:rPr sz="1400" b="0">
                <a:solidFill>
                  <a:srgbClr val="FFFFFF"/>
                </a:solidFill>
                <a:latin typeface="Calibri"/>
              </a:rPr>
              <a:t> Largest, most concentrated cluster. F1=0.707 — geometric dominance = classification dominance.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515600" cy="749808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Familial Capital:</a:t>
            </a:r>
            <a:r>
              <a:rPr sz="1400" b="0">
                <a:solidFill>
                  <a:srgbClr val="FFFFFF"/>
                </a:solidFill>
                <a:latin typeface="Calibri"/>
              </a:rPr>
              <a:t> TIGHTEST cluster despite 6x fewer examples than Nav. Family vocabulary creates sharp, unambiguous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515600" cy="749808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10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Aspirational:</a:t>
            </a:r>
            <a:r>
              <a:rPr sz="1400" b="0">
                <a:solidFill>
                  <a:srgbClr val="FFFFFF"/>
                </a:solidFill>
                <a:latin typeface="Calibri"/>
              </a:rPr>
              <a:t> Broad cluster OVERLAPPING Navigational region. This overlap = the co-prediction pattern in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515600" cy="749808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79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Attainment:</a:t>
            </a:r>
            <a:r>
              <a:rPr sz="1400" b="0">
                <a:solidFill>
                  <a:srgbClr val="FFFFFF"/>
                </a:solidFill>
                <a:latin typeface="Calibri"/>
              </a:rPr>
              <a:t> NO distinct cluster. Points scattered across Nav + Asp regions. Visual proof of F1=0.303.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0515600" cy="749808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48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Class_0:</a:t>
            </a:r>
            <a:r>
              <a:rPr sz="1400" b="0">
                <a:solidFill>
                  <a:srgbClr val="FFFFFF"/>
                </a:solidFill>
                <a:latin typeface="Calibri"/>
              </a:rPr>
              <a:t> Cleanly separated after fine-tuning (was completely intermixed). Enables 81% precision on unthemed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40680"/>
            <a:ext cx="10515600" cy="749808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16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Resistance + Social:</a:t>
            </a:r>
            <a:r>
              <a:rPr sz="1400" b="0">
                <a:solidFill>
                  <a:srgbClr val="FFFFFF"/>
                </a:solidFill>
                <a:latin typeface="Calibri"/>
              </a:rPr>
              <a:t> Small but distinct clusters. Social shows multi-modal sub-structure (peer groups vs mentorship).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01E"/>
                </a:solidFill>
                <a:latin typeface="Calibri"/>
              </a:defRPr>
            </a:pPr>
            <a:r>
              <a:t>Cluster tightness directly correlates with F1 score. The geometry IS the explanation.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Critical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7CBD"/>
                </a:solidFill>
                <a:latin typeface="Calibri"/>
              </a:defRPr>
            </a:pPr>
            <a:r>
              <a:t>The Model CAN Detect All 8 Themes — The Bottleneck Is Elsewhere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Single-Theme Sentences: The Model's TRUE Capability (Hidden by Macro-F1)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When a sentence carries only ONE theme — no co-occurrence — performance is dramatically higher: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7863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280160"/>
                <a:gridCol w="1097280"/>
                <a:gridCol w="1097280"/>
                <a:gridCol w="118872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Single-Theme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+0.189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Capital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+0.215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+0.288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0.727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+0.424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+0.311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+0.217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029200"/>
            <a:ext cx="11247120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E"/>
                </a:solidFill>
                <a:latin typeface="Calibri"/>
              </a:defRPr>
            </a:pPr>
            <a:r>
              <a:t>PRECISION = 1.000 across ALL 8 themes. The model NEVER hallucinates themes.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Even Attainment (worst overall F1=0.303) reaches F1=0.727 on single-label sentences.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Macro-F1=0.494 measures DISENTANGLEMENT ability, not DETECTION ability.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Reframing: The Problem Is Not Detection — It Is Disentanglement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36576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Single-Theme: Model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F1 = 0.568 - 0.896 across all 8 themes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Perfect precision (1.000) on every theme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6 of 8 themes exceed F1 = 0.69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Genuine theme understanding, not pattern matching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Suitable as screening tool for single-theme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36576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Multi-Label: Model STRUGGLES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Detects dominant theme, misses secondary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Asp+Nav: </a:t>
            </a:r>
            <a:r>
              <a:rPr sz="1500" b="0">
                <a:solidFill>
                  <a:srgbClr val="FFFFFF"/>
                </a:solidFill>
                <a:latin typeface="Calibri"/>
              </a:rPr>
              <a:t>Best pair — but only 31.7% exact match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Asp+Perseverance: </a:t>
            </a:r>
            <a:r>
              <a:rPr sz="1500" b="0">
                <a:solidFill>
                  <a:srgbClr val="FFFFFF"/>
                </a:solidFill>
                <a:latin typeface="Calibri"/>
              </a:rPr>
              <a:t>0% exact match (NEVER gets both)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Attainment: </a:t>
            </a:r>
            <a:r>
              <a:rPr sz="1500" b="0">
                <a:solidFill>
                  <a:srgbClr val="FFFFFF"/>
                </a:solidFill>
                <a:latin typeface="Calibri"/>
              </a:rPr>
              <a:t>77.3% multi-label = biggest gap (+0.424)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Multi-label disentanglement = the frontier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The delta between single-theme and overall F1 correlates directly with each theme's multi-label rate.</a:t>
            </a:r>
            <a:br/>
            <a:r>
              <a:t>Attainment (77.3% multi-label) has the largest gap (+0.424). Navigational (42.3% multi-label) has the smallest (+0.189).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Co-Prediction Patterns: What Gets Confused With What, and Why</a:t>
            </a:r>
          </a:p>
        </p:txBody>
      </p:sp>
      <p:pic>
        <p:nvPicPr>
          <p:cNvPr id="4" name="Picture 3" descr="10_confusion_cooccur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6858000" cy="574668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91440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Co-Predictions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 79%, Asp 76%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 39%, Nav 24%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 37%, Nav 37%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 26%, Asp 24%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 21%, Nav 20%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 27%, Nav 18%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Navigational = 'default' prediction</a:t>
            </a:r>
            <a:r>
              <a:rPr sz="1200" b="0">
                <a:solidFill>
                  <a:srgbClr val="333333"/>
                </a:solidFill>
                <a:latin typeface="Calibri"/>
              </a:rPr>
              <a:t> for any thematically rich text. At 24% prevalence, model learns a prior that themed text is likely Nav.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Attainment absorbed into Nav+Asp:</a:t>
            </a:r>
            <a:r>
              <a:rPr sz="1200" b="0">
                <a:solidFill>
                  <a:srgbClr val="333333"/>
                </a:solidFill>
                <a:latin typeface="Calibri"/>
              </a:rPr>
              <a:t> model learned that Attainment-like text IS Nav+Asp text, but can't isolate the additional signal from only 92 single-label examples.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Data Evidence: Single-Label Sentences Are Much More Separable Than Multi-Label</a:t>
            </a:r>
          </a:p>
        </p:txBody>
      </p:sp>
      <p:pic>
        <p:nvPicPr>
          <p:cNvPr id="4" name="Picture 3" descr="29_single_vs_mult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0"/>
            <a:ext cx="5852160" cy="2438400"/>
          </a:xfrm>
          <a:prstGeom prst="rect">
            <a:avLst/>
          </a:prstGeom>
        </p:spPr>
      </p:pic>
      <p:pic>
        <p:nvPicPr>
          <p:cNvPr id="5" name="Picture 4" descr="30_separability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31520"/>
            <a:ext cx="58521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Theme Amenability: Vocabulary Distinctiveness Matters More Than Prevalence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1498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1097280"/>
                <a:gridCol w="1097280"/>
                <a:gridCol w="411480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1: Strong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prevalence + distinctive context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2: Moderate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Familial, Asp, Social, Persev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0.480-0.600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0.697-0.826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Distinctive vocab OR moderate prevalence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 3: Weak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Resistance, Spiritual, Attainment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0.303-0.395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0.568-0.727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Context-dependent + high co-occurrence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The anomaly that proves the rule: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Familial Capital (3.8% prevalence): </a:t>
            </a:r>
            <a:r>
              <a:rPr sz="1400" b="0">
                <a:solidFill>
                  <a:srgbClr val="FFFFFF"/>
                </a:solidFill>
                <a:latin typeface="Calibri"/>
              </a:rPr>
              <a:t>F1=0.600, ROC-AUC=0.941 (highest of ANY theme)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Why? d-prime=1.62 (highest). </a:t>
            </a:r>
            <a:r>
              <a:rPr sz="1400" b="0">
                <a:solidFill>
                  <a:srgbClr val="FFFFFF"/>
                </a:solidFill>
                <a:latin typeface="Calibri"/>
              </a:rPr>
              <a:t>Words like 'parents', 'mother', 'father', 'family' are unambiguous lexical markers.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Resistance (4.5% prevalence): </a:t>
            </a:r>
            <a:r>
              <a:rPr sz="1400" b="0">
                <a:solidFill>
                  <a:srgbClr val="FFFFFF"/>
                </a:solidFill>
                <a:latin typeface="Calibri"/>
              </a:rPr>
              <a:t>F1=0.395, d-prime=0.39 (lowest)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Why? Resistance requires understanding whether 'overcoming difficulty' is about </a:t>
            </a:r>
            <a:r>
              <a:rPr sz="1400" b="0">
                <a:solidFill>
                  <a:srgbClr val="FFFFFF"/>
                </a:solidFill>
                <a:latin typeface="Calibri"/>
              </a:rPr>
              <a:t>systemic barriers (Resistance) or personal grit (Perseverance). </a:t>
            </a:r>
            <a:r>
              <a:rPr sz="1400" b="0">
                <a:solidFill>
                  <a:srgbClr val="FFFFFF"/>
                </a:solidFill>
                <a:latin typeface="Calibri"/>
              </a:rPr>
              <a:t>This depends on essay context, not keywords.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D4A01E"/>
                </a:solidFill>
                <a:latin typeface="Calibri"/>
              </a:rPr>
              <a:t>Conclusion: </a:t>
            </a:r>
            <a:r>
              <a:rPr sz="1400" b="0">
                <a:solidFill>
                  <a:srgbClr val="FFFFFF"/>
                </a:solidFill>
                <a:latin typeface="Calibri"/>
              </a:rPr>
              <a:t>Themes with unique vocabulary succeed even at low prevalence. </a:t>
            </a:r>
            <a:r>
              <a:rPr sz="1400" b="0">
                <a:solidFill>
                  <a:srgbClr val="FFFFFF"/>
                </a:solidFill>
                <a:latin typeface="Calibri"/>
              </a:rPr>
              <a:t>Themes requiring narrative context resist automation regardless of model capacity.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v3 to v4: Per-Theme Improvement Waterfall</a:t>
            </a:r>
          </a:p>
        </p:txBody>
      </p:sp>
      <p:pic>
        <p:nvPicPr>
          <p:cNvPr id="4" name="Picture 3" descr="07_improvement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484061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A4A"/>
                </a:solidFill>
                <a:latin typeface="Calibri"/>
              </a:defRPr>
            </a:pPr>
            <a:r>
              <a:t>When Does Model Scale Help? Per-Theme Base (86M) vs v4 Large (438M)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731520"/>
                <a:gridCol w="1097280"/>
                <a:gridCol w="45720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v4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+0.112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v4 Large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Most context-dependent; deeper encoder helps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Spiritual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+0.097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v4 Large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Rare + context-dependent = needs capacity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Attainment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0.264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+0.039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v4 Large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Marginal gain; still limited by data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Navigational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v4 Large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Already strong; minor improvement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Perseverance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+0.003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 provides no benefit here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Keyword-detectable; extra params unhelpful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Familial Cap.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-0.015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Distinctive vocab already captured by base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Resistance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Large model overfits 629 training examples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Scale helps on rare, complex themes </a:t>
            </a:r>
            <a:r>
              <a:rPr sz="1300" b="0">
                <a:solidFill>
                  <a:srgbClr val="333333"/>
                </a:solidFill>
                <a:latin typeface="Calibri"/>
              </a:rPr>
              <a:t>(Social +0.112, Spiritual +0.097) where deeper representations provide genuine signal.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Scale hurts on mid-frequency themes </a:t>
            </a:r>
            <a:r>
              <a:rPr sz="1300" b="0">
                <a:solidFill>
                  <a:srgbClr val="333333"/>
                </a:solidFill>
                <a:latin typeface="Calibri"/>
              </a:rPr>
              <a:t>(Resistance -0.087) where 438M params memorize 629 examples. Base model's implicit regularization wins.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Practical implication: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For small datasets, base-size model + strong regularization may be preferable unless rare-theme improvement is specifically needed.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 Concrete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226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1. First Multi-Label CCW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020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Prior work classified 2 themes independently. AWARE classifies 8 themes simultaneously at sentence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8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2. Reproducible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07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4-stage, embedding-based semantic cleaning. Every merge/drop decision justified by quantitative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343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3. AWARE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37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Essay-level context + sentence classification with DAPT, ASL, CB-weights, per-theme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40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4. Scaling Failure Diagnostic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9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7 failure modes, 16 fixes, measured impact. A reference for practitioners on small-data fine-tuning.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46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5. Multi-Label Bottleneck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25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Single-theme F1 = 0.568-0.896 with PERFECT precision. The real challenge is disentanglement.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8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LoRA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7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Parameter-efficient: train only adapter layers. Fewer trainable params = less overfitting on rare themes.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53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LLM Data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33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Generate synthetic single-label examples for Attainment (N=92), Spiritual, Resistance via GPT-4.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9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Active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39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Human-in-the-loop: model flags uncertain multi-label predictions for annotator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5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Cross-Institutional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45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Test on essays from other universities to validate generalization beyond SFSU.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10515600" cy="8686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71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E"/>
                </a:solidFill>
                <a:latin typeface="Calibri"/>
              </a:defRPr>
            </a:pPr>
            <a:r>
              <a:t>ALMA Dashboard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508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Interactive platform for researchers: explore predictions, compare with human annotations, provide feedback.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657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A7CBD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AWARE  |  ALMA Project  |  San Francisco State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Advisor: Dr. Anagha Kulkarni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